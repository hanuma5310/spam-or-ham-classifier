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97" r:id="rId11"/>
    <p:sldId id="296" r:id="rId12"/>
    <p:sldId id="281" r:id="rId13"/>
    <p:sldId id="279" r:id="rId14"/>
    <p:sldId id="278" r:id="rId15"/>
    <p:sldId id="298" r:id="rId16"/>
  </p:sldIdLst>
  <p:sldSz cx="9144000" cy="5143500" type="screen16x9"/>
  <p:notesSz cx="6858000" cy="9144000"/>
  <p:embeddedFontLst>
    <p:embeddedFont>
      <p:font typeface="Lexend Deca" charset="-78"/>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1A138BE6-E374-4A1A-BE6D-9E52B14417BE}">
  <a:tblStyle styleId="{1A138BE6-E374-4A1A-BE6D-9E52B14417B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0286F9A-8295-4760-8310-7838FB866F3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5" d="100"/>
          <a:sy n="75" d="100"/>
        </p:scale>
        <p:origin x="-1666" y="-638"/>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bc98855f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bc98855f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bc98855ff3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bc98855ff3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25"/>
            <a:ext cx="9143957" cy="5143500"/>
          </a:xfrm>
          <a:prstGeom prst="rect">
            <a:avLst/>
          </a:prstGeom>
          <a:noFill/>
          <a:ln>
            <a:noFill/>
          </a:ln>
        </p:spPr>
      </p:pic>
      <p:sp>
        <p:nvSpPr>
          <p:cNvPr id="11" name="Google Shape;11;p2"/>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lvl1pPr marL="457200" lvl="0" indent="-419100" rtl="0">
              <a:spcBef>
                <a:spcPts val="600"/>
              </a:spcBef>
              <a:spcAft>
                <a:spcPts val="0"/>
              </a:spcAft>
              <a:buSzPts val="3000"/>
              <a:buFont typeface="Lexend Deca"/>
              <a:buChar char="⬡"/>
              <a:defRPr sz="3000">
                <a:latin typeface="Lexend Deca"/>
                <a:ea typeface="Lexend Deca"/>
                <a:cs typeface="Lexend Deca"/>
                <a:sym typeface="Lexend Deca"/>
              </a:defRPr>
            </a:lvl1pPr>
            <a:lvl2pPr marL="914400" lvl="1" indent="-419100" rtl="0">
              <a:spcBef>
                <a:spcPts val="0"/>
              </a:spcBef>
              <a:spcAft>
                <a:spcPts val="0"/>
              </a:spcAft>
              <a:buSzPts val="3000"/>
              <a:buFont typeface="Lexend Deca"/>
              <a:buChar char="∙"/>
              <a:defRPr sz="3000">
                <a:latin typeface="Lexend Deca"/>
                <a:ea typeface="Lexend Deca"/>
                <a:cs typeface="Lexend Deca"/>
                <a:sym typeface="Lexend Deca"/>
              </a:defRPr>
            </a:lvl2pPr>
            <a:lvl3pPr marL="1371600" lvl="2" indent="-419100" rtl="0">
              <a:spcBef>
                <a:spcPts val="0"/>
              </a:spcBef>
              <a:spcAft>
                <a:spcPts val="0"/>
              </a:spcAft>
              <a:buSzPts val="3000"/>
              <a:buFont typeface="Lexend Deca"/>
              <a:buChar char="∙"/>
              <a:defRPr sz="3000">
                <a:latin typeface="Lexend Deca"/>
                <a:ea typeface="Lexend Deca"/>
                <a:cs typeface="Lexend Deca"/>
                <a:sym typeface="Lexend Deca"/>
              </a:defRPr>
            </a:lvl3pPr>
            <a:lvl4pPr marL="1828800" lvl="3" indent="-419100" rtl="0">
              <a:spcBef>
                <a:spcPts val="0"/>
              </a:spcBef>
              <a:spcAft>
                <a:spcPts val="0"/>
              </a:spcAft>
              <a:buSzPts val="3000"/>
              <a:buFont typeface="Lexend Deca"/>
              <a:buChar char="●"/>
              <a:defRPr sz="3000">
                <a:latin typeface="Lexend Deca"/>
                <a:ea typeface="Lexend Deca"/>
                <a:cs typeface="Lexend Deca"/>
                <a:sym typeface="Lexend Deca"/>
              </a:defRPr>
            </a:lvl4pPr>
            <a:lvl5pPr marL="2286000" lvl="4" indent="-419100" rtl="0">
              <a:spcBef>
                <a:spcPts val="0"/>
              </a:spcBef>
              <a:spcAft>
                <a:spcPts val="0"/>
              </a:spcAft>
              <a:buSzPts val="3000"/>
              <a:buFont typeface="Lexend Deca"/>
              <a:buChar char="○"/>
              <a:defRPr sz="3000">
                <a:latin typeface="Lexend Deca"/>
                <a:ea typeface="Lexend Deca"/>
                <a:cs typeface="Lexend Deca"/>
                <a:sym typeface="Lexend Deca"/>
              </a:defRPr>
            </a:lvl5pPr>
            <a:lvl6pPr marL="2743200" lvl="5" indent="-419100" rtl="0">
              <a:spcBef>
                <a:spcPts val="0"/>
              </a:spcBef>
              <a:spcAft>
                <a:spcPts val="0"/>
              </a:spcAft>
              <a:buSzPts val="3000"/>
              <a:buFont typeface="Lexend Deca"/>
              <a:buChar char="■"/>
              <a:defRPr sz="3000">
                <a:latin typeface="Lexend Deca"/>
                <a:ea typeface="Lexend Deca"/>
                <a:cs typeface="Lexend Deca"/>
                <a:sym typeface="Lexend Deca"/>
              </a:defRPr>
            </a:lvl6pPr>
            <a:lvl7pPr marL="3200400" lvl="6" indent="-419100" rtl="0">
              <a:spcBef>
                <a:spcPts val="0"/>
              </a:spcBef>
              <a:spcAft>
                <a:spcPts val="0"/>
              </a:spcAft>
              <a:buSzPts val="3000"/>
              <a:buFont typeface="Lexend Deca"/>
              <a:buChar char="●"/>
              <a:defRPr sz="3000">
                <a:latin typeface="Lexend Deca"/>
                <a:ea typeface="Lexend Deca"/>
                <a:cs typeface="Lexend Deca"/>
                <a:sym typeface="Lexend Deca"/>
              </a:defRPr>
            </a:lvl7pPr>
            <a:lvl8pPr marL="3657600" lvl="7" indent="-419100" rtl="0">
              <a:spcBef>
                <a:spcPts val="0"/>
              </a:spcBef>
              <a:spcAft>
                <a:spcPts val="0"/>
              </a:spcAft>
              <a:buSzPts val="3000"/>
              <a:buFont typeface="Lexend Deca"/>
              <a:buChar char="○"/>
              <a:defRPr sz="3000">
                <a:latin typeface="Lexend Deca"/>
                <a:ea typeface="Lexend Deca"/>
                <a:cs typeface="Lexend Deca"/>
                <a:sym typeface="Lexend Deca"/>
              </a:defRPr>
            </a:lvl8pPr>
            <a:lvl9pPr marL="4114800" lvl="8" indent="-419100">
              <a:spcBef>
                <a:spcPts val="0"/>
              </a:spcBef>
              <a:spcAft>
                <a:spcPts val="0"/>
              </a:spcAft>
              <a:buSzPts val="3000"/>
              <a:buFont typeface="Lexend Deca"/>
              <a:buChar char="■"/>
              <a:defRPr sz="3000">
                <a:latin typeface="Lexend Deca"/>
                <a:ea typeface="Lexend Deca"/>
                <a:cs typeface="Lexend Deca"/>
                <a:sym typeface="Lexend Deca"/>
              </a:defRPr>
            </a:lvl9pPr>
          </a:lstStyle>
          <a:p>
            <a:endParaRPr/>
          </a:p>
        </p:txBody>
      </p:sp>
      <p:sp>
        <p:nvSpPr>
          <p:cNvPr id="20" name="Google Shape;20;p4"/>
          <p:cNvSpPr txBox="1"/>
          <p:nvPr/>
        </p:nvSpPr>
        <p:spPr>
          <a:xfrm>
            <a:off x="826414" y="656117"/>
            <a:ext cx="6138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body" idx="1"/>
          </p:nvPr>
        </p:nvSpPr>
        <p:spPr>
          <a:xfrm>
            <a:off x="580550"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body" idx="2"/>
          </p:nvPr>
        </p:nvSpPr>
        <p:spPr>
          <a:xfrm>
            <a:off x="3753943"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2" name="Google Shape;32;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6" name="Google Shape;36;p7"/>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7" name="Google Shape;37;p7"/>
          <p:cNvSpPr txBox="1">
            <a:spLocks noGrp="1"/>
          </p:cNvSpPr>
          <p:nvPr>
            <p:ph type="body" idx="2"/>
          </p:nvPr>
        </p:nvSpPr>
        <p:spPr>
          <a:xfrm>
            <a:off x="2780447"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8" name="Google Shape;38;p7"/>
          <p:cNvSpPr txBox="1">
            <a:spLocks noGrp="1"/>
          </p:cNvSpPr>
          <p:nvPr>
            <p:ph type="body" idx="3"/>
          </p:nvPr>
        </p:nvSpPr>
        <p:spPr>
          <a:xfrm>
            <a:off x="4980344"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 Small circuit" type="blank">
  <p:cSld name="BLANK">
    <p:spTree>
      <p:nvGrpSpPr>
        <p:cNvPr id="1" name="Shape 48"/>
        <p:cNvGrpSpPr/>
        <p:nvPr/>
      </p:nvGrpSpPr>
      <p:grpSpPr>
        <a:xfrm>
          <a:off x="0" y="0"/>
          <a:ext cx="0" cy="0"/>
          <a:chOff x="0" y="0"/>
          <a:chExt cx="0" cy="0"/>
        </a:xfrm>
      </p:grpSpPr>
      <p:pic>
        <p:nvPicPr>
          <p:cNvPr id="49" name="Google Shape;49;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 name="Google Shape;50;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Big circuit">
  <p:cSld name="BLANK_1">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3" name="Google Shape;4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6" r:id="rId7"/>
    <p:sldLayoutId id="2147483657" r:id="rId8"/>
    <p:sldLayoutId id="2147483658" r:id="rId9"/>
    <p:sldLayoutId id="2147483660"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7.png"/><Relationship Id="rId11" Type="http://schemas.openxmlformats.org/officeDocument/2006/relationships/image" Target="../media/image9.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714348" y="1928808"/>
            <a:ext cx="45390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Email Spam or Ham Classifier</a:t>
            </a:r>
            <a:endParaRPr/>
          </a:p>
        </p:txBody>
      </p:sp>
      <p:pic>
        <p:nvPicPr>
          <p:cNvPr id="61" name="Google Shape;61;p13"/>
          <p:cNvPicPr preferRelativeResize="0"/>
          <p:nvPr/>
        </p:nvPicPr>
        <p:blipFill>
          <a:blip r:embed="rId3">
            <a:alphaModFix/>
          </a:blip>
          <a:stretch>
            <a:fillRect/>
          </a:stretch>
        </p:blipFill>
        <p:spPr>
          <a:xfrm>
            <a:off x="5894475" y="1050906"/>
            <a:ext cx="1782850" cy="2031750"/>
          </a:xfrm>
          <a:prstGeom prst="rect">
            <a:avLst/>
          </a:prstGeom>
          <a:noFill/>
          <a:ln>
            <a:noFill/>
          </a:ln>
        </p:spPr>
      </p:pic>
      <p:pic>
        <p:nvPicPr>
          <p:cNvPr id="62" name="Google Shape;62;p13"/>
          <p:cNvPicPr preferRelativeResize="0"/>
          <p:nvPr/>
        </p:nvPicPr>
        <p:blipFill>
          <a:blip r:embed="rId4">
            <a:alphaModFix/>
          </a:blip>
          <a:stretch>
            <a:fillRect/>
          </a:stretch>
        </p:blipFill>
        <p:spPr>
          <a:xfrm>
            <a:off x="5320814" y="378324"/>
            <a:ext cx="662500" cy="726550"/>
          </a:xfrm>
          <a:prstGeom prst="rect">
            <a:avLst/>
          </a:prstGeom>
          <a:noFill/>
          <a:ln>
            <a:noFill/>
          </a:ln>
        </p:spPr>
      </p:pic>
      <p:pic>
        <p:nvPicPr>
          <p:cNvPr id="63" name="Google Shape;63;p13"/>
          <p:cNvPicPr preferRelativeResize="0"/>
          <p:nvPr/>
        </p:nvPicPr>
        <p:blipFill>
          <a:blip r:embed="rId5">
            <a:alphaModFix/>
          </a:blip>
          <a:stretch>
            <a:fillRect/>
          </a:stretch>
        </p:blipFill>
        <p:spPr>
          <a:xfrm>
            <a:off x="7593770" y="884611"/>
            <a:ext cx="482075" cy="525200"/>
          </a:xfrm>
          <a:prstGeom prst="rect">
            <a:avLst/>
          </a:prstGeom>
          <a:noFill/>
          <a:ln>
            <a:noFill/>
          </a:ln>
        </p:spPr>
      </p:pic>
      <p:pic>
        <p:nvPicPr>
          <p:cNvPr id="64" name="Google Shape;64;p13"/>
          <p:cNvPicPr preferRelativeResize="0"/>
          <p:nvPr/>
        </p:nvPicPr>
        <p:blipFill>
          <a:blip r:embed="rId6">
            <a:alphaModFix/>
          </a:blip>
          <a:stretch>
            <a:fillRect/>
          </a:stretch>
        </p:blipFill>
        <p:spPr>
          <a:xfrm>
            <a:off x="5621692" y="4034576"/>
            <a:ext cx="586165" cy="686300"/>
          </a:xfrm>
          <a:prstGeom prst="rect">
            <a:avLst/>
          </a:prstGeom>
          <a:noFill/>
          <a:ln>
            <a:noFill/>
          </a:ln>
        </p:spPr>
      </p:pic>
      <p:pic>
        <p:nvPicPr>
          <p:cNvPr id="65" name="Google Shape;65;p13"/>
          <p:cNvPicPr preferRelativeResize="0"/>
          <p:nvPr/>
        </p:nvPicPr>
        <p:blipFill>
          <a:blip r:embed="rId7">
            <a:alphaModFix/>
          </a:blip>
          <a:stretch>
            <a:fillRect/>
          </a:stretch>
        </p:blipFill>
        <p:spPr>
          <a:xfrm>
            <a:off x="8404399" y="3624439"/>
            <a:ext cx="321850" cy="448425"/>
          </a:xfrm>
          <a:prstGeom prst="rect">
            <a:avLst/>
          </a:prstGeom>
          <a:noFill/>
          <a:ln>
            <a:noFill/>
          </a:ln>
        </p:spPr>
      </p:pic>
      <p:pic>
        <p:nvPicPr>
          <p:cNvPr id="66" name="Google Shape;66;p13"/>
          <p:cNvPicPr preferRelativeResize="0"/>
          <p:nvPr/>
        </p:nvPicPr>
        <p:blipFill>
          <a:blip r:embed="rId7">
            <a:alphaModFix/>
          </a:blip>
          <a:stretch>
            <a:fillRect/>
          </a:stretch>
        </p:blipFill>
        <p:spPr>
          <a:xfrm>
            <a:off x="8664593" y="3757882"/>
            <a:ext cx="321850" cy="44842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8662" y="1643056"/>
            <a:ext cx="7315224" cy="1159800"/>
          </a:xfrm>
        </p:spPr>
        <p:txBody>
          <a:bodyPr/>
          <a:lstStyle/>
          <a:p>
            <a:pPr algn="ctr"/>
            <a:r>
              <a:rPr lang="en-IN" dirty="0" smtClean="0"/>
              <a:t>WHAT DOES IT DO?</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1" name="Google Shape;81;p15"/>
          <p:cNvSpPr txBox="1">
            <a:spLocks noGrp="1"/>
          </p:cNvSpPr>
          <p:nvPr>
            <p:ph type="subTitle" idx="4294967295"/>
          </p:nvPr>
        </p:nvSpPr>
        <p:spPr>
          <a:xfrm>
            <a:off x="642910" y="1000114"/>
            <a:ext cx="7858180" cy="2944509"/>
          </a:xfrm>
          <a:prstGeom prst="rect">
            <a:avLst/>
          </a:prstGeom>
        </p:spPr>
        <p:txBody>
          <a:bodyPr spcFirstLastPara="1" wrap="square" lIns="0" tIns="0" rIns="0" bIns="0" anchor="t" anchorCtr="0">
            <a:noAutofit/>
          </a:bodyPr>
          <a:lstStyle/>
          <a:p>
            <a:pPr>
              <a:buNone/>
            </a:pPr>
            <a:r>
              <a:rPr lang="en-US" sz="2800" dirty="0" smtClean="0">
                <a:solidFill>
                  <a:schemeClr val="bg1"/>
                </a:solidFill>
                <a:latin typeface="Lexend Deca" charset="-78"/>
                <a:cs typeface="Lexend Deca" charset="-78"/>
              </a:rPr>
              <a:t>	The "Email Spam or Ham Classifier" project is motivated by the urgent need to enhance email security, improve efficiency in email management, and provide educational and practical value in data science and Information Security.</a:t>
            </a:r>
          </a:p>
        </p:txBody>
      </p:sp>
      <p:sp>
        <p:nvSpPr>
          <p:cNvPr id="83" name="Google Shape;83;p1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6" name="Picture 5" descr="phishing.png"/>
          <p:cNvPicPr>
            <a:picLocks noChangeAspect="1"/>
          </p:cNvPicPr>
          <p:nvPr/>
        </p:nvPicPr>
        <p:blipFill>
          <a:blip r:embed="rId3"/>
          <a:stretch>
            <a:fillRect/>
          </a:stretch>
        </p:blipFill>
        <p:spPr>
          <a:xfrm>
            <a:off x="4786314" y="1071552"/>
            <a:ext cx="4571996" cy="4571996"/>
          </a:xfrm>
          <a:prstGeom prst="rect">
            <a:avLst/>
          </a:prstGeom>
        </p:spPr>
      </p:pic>
      <p:sp>
        <p:nvSpPr>
          <p:cNvPr id="88" name="Google Shape;88;p16"/>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dirty="0" smtClean="0"/>
              <a:t>Never trust any unknown, suspicious or untrustworthy source/links.</a:t>
            </a:r>
            <a:endParaRPr/>
          </a:p>
        </p:txBody>
      </p:sp>
      <p:sp>
        <p:nvSpPr>
          <p:cNvPr id="89" name="Google Shape;89;p1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ctrTitle"/>
          </p:nvPr>
        </p:nvSpPr>
        <p:spPr>
          <a:xfrm>
            <a:off x="685800" y="1659550"/>
            <a:ext cx="5386398"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dirty="0" smtClean="0"/>
              <a:t>1.</a:t>
            </a:r>
            <a:r>
              <a:rPr lang="en" sz="4800" dirty="0"/>
              <a:t> </a:t>
            </a:r>
            <a:r>
              <a:rPr lang="en" sz="4800" dirty="0" smtClean="0"/>
              <a:t>Project Kit</a:t>
            </a:r>
            <a:endParaRPr sz="4800"/>
          </a:p>
        </p:txBody>
      </p:sp>
      <p:sp>
        <p:nvSpPr>
          <p:cNvPr id="95" name="Google Shape;95;p17"/>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000" dirty="0" smtClean="0">
                <a:latin typeface="Lexend Deca" charset="-78"/>
                <a:cs typeface="Lexend Deca" charset="-78"/>
              </a:rPr>
              <a:t>Modules &amp; Frameworks used</a:t>
            </a:r>
            <a:endParaRPr sz="2000">
              <a:latin typeface="Lexend Deca" charset="-78"/>
              <a:cs typeface="Lexend Deca" charset="-78"/>
            </a:endParaRPr>
          </a:p>
        </p:txBody>
      </p:sp>
      <p:pic>
        <p:nvPicPr>
          <p:cNvPr id="96" name="Google Shape;96;p17"/>
          <p:cNvPicPr preferRelativeResize="0"/>
          <p:nvPr/>
        </p:nvPicPr>
        <p:blipFill>
          <a:blip r:embed="rId3">
            <a:alphaModFix/>
          </a:blip>
          <a:stretch>
            <a:fillRect/>
          </a:stretch>
        </p:blipFill>
        <p:spPr>
          <a:xfrm>
            <a:off x="5722705" y="2045304"/>
            <a:ext cx="2219340" cy="1159800"/>
          </a:xfrm>
          <a:prstGeom prst="rect">
            <a:avLst/>
          </a:prstGeom>
          <a:noFill/>
          <a:ln>
            <a:noFill/>
          </a:ln>
        </p:spPr>
      </p:pic>
      <p:pic>
        <p:nvPicPr>
          <p:cNvPr id="97" name="Google Shape;97;p17"/>
          <p:cNvPicPr preferRelativeResize="0"/>
          <p:nvPr/>
        </p:nvPicPr>
        <p:blipFill>
          <a:blip r:embed="rId4">
            <a:alphaModFix/>
          </a:blip>
          <a:stretch>
            <a:fillRect/>
          </a:stretch>
        </p:blipFill>
        <p:spPr>
          <a:xfrm>
            <a:off x="5790680" y="2449022"/>
            <a:ext cx="145275" cy="423000"/>
          </a:xfrm>
          <a:prstGeom prst="rect">
            <a:avLst/>
          </a:prstGeom>
          <a:noFill/>
          <a:ln>
            <a:noFill/>
          </a:ln>
        </p:spPr>
      </p:pic>
      <p:pic>
        <p:nvPicPr>
          <p:cNvPr id="98" name="Google Shape;98;p17"/>
          <p:cNvPicPr preferRelativeResize="0"/>
          <p:nvPr/>
        </p:nvPicPr>
        <p:blipFill>
          <a:blip r:embed="rId5">
            <a:alphaModFix/>
          </a:blip>
          <a:stretch>
            <a:fillRect/>
          </a:stretch>
        </p:blipFill>
        <p:spPr>
          <a:xfrm>
            <a:off x="6336726" y="1237502"/>
            <a:ext cx="1032700" cy="120912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p18"/>
          <p:cNvSpPr txBox="1">
            <a:spLocks noGrp="1"/>
          </p:cNvSpPr>
          <p:nvPr>
            <p:ph type="body" idx="1"/>
          </p:nvPr>
        </p:nvSpPr>
        <p:spPr>
          <a:xfrm>
            <a:off x="571472" y="571486"/>
            <a:ext cx="7929618" cy="2299690"/>
          </a:xfrm>
          <a:prstGeom prst="rect">
            <a:avLst/>
          </a:prstGeom>
        </p:spPr>
        <p:txBody>
          <a:bodyPr spcFirstLastPara="1" wrap="square" lIns="0" tIns="0" rIns="0" bIns="0" anchor="t" anchorCtr="0">
            <a:noAutofit/>
          </a:bodyPr>
          <a:lstStyle/>
          <a:p>
            <a:pPr>
              <a:buNone/>
            </a:pPr>
            <a:r>
              <a:rPr lang="en-US" dirty="0" smtClean="0">
                <a:solidFill>
                  <a:schemeClr val="accent4"/>
                </a:solidFill>
                <a:latin typeface="Lexend Deca" charset="-78"/>
                <a:cs typeface="Lexend Deca" charset="-78"/>
              </a:rPr>
              <a:t>1. Languages and Frameworks:</a:t>
            </a:r>
          </a:p>
          <a:p>
            <a:pPr>
              <a:buFont typeface="Wingdings" pitchFamily="2" charset="2"/>
              <a:buChar char="Ø"/>
            </a:pPr>
            <a:r>
              <a:rPr lang="en-US" dirty="0" smtClean="0">
                <a:latin typeface="Lexend Deca" charset="-78"/>
                <a:cs typeface="Lexend Deca" charset="-78"/>
              </a:rPr>
              <a:t>Python (Flask, </a:t>
            </a:r>
            <a:r>
              <a:rPr lang="en-US" dirty="0" err="1" smtClean="0">
                <a:latin typeface="Lexend Deca" charset="-78"/>
                <a:cs typeface="Lexend Deca" charset="-78"/>
              </a:rPr>
              <a:t>Scikit</a:t>
            </a:r>
            <a:r>
              <a:rPr lang="en-US" dirty="0" smtClean="0">
                <a:latin typeface="Lexend Deca" charset="-78"/>
                <a:cs typeface="Lexend Deca" charset="-78"/>
              </a:rPr>
              <a:t>-learn, Pandas), HTML/CSS/JavaScript (Bootstrap).</a:t>
            </a:r>
          </a:p>
          <a:p>
            <a:pPr>
              <a:buNone/>
            </a:pPr>
            <a:r>
              <a:rPr lang="en-US" dirty="0" smtClean="0">
                <a:solidFill>
                  <a:schemeClr val="accent4"/>
                </a:solidFill>
                <a:latin typeface="Lexend Deca" charset="-78"/>
                <a:cs typeface="Lexend Deca" charset="-78"/>
              </a:rPr>
              <a:t>2. Environment:</a:t>
            </a:r>
          </a:p>
          <a:p>
            <a:pPr>
              <a:buFont typeface="Wingdings" pitchFamily="2" charset="2"/>
              <a:buChar char="Ø"/>
            </a:pPr>
            <a:r>
              <a:rPr lang="en-US" dirty="0" err="1" smtClean="0">
                <a:latin typeface="Lexend Deca" charset="-78"/>
                <a:cs typeface="Lexend Deca" charset="-78"/>
              </a:rPr>
              <a:t>Jupyter</a:t>
            </a:r>
            <a:r>
              <a:rPr lang="en-US" dirty="0" smtClean="0">
                <a:latin typeface="Lexend Deca" charset="-78"/>
                <a:cs typeface="Lexend Deca" charset="-78"/>
              </a:rPr>
              <a:t> Notebooks, </a:t>
            </a:r>
            <a:r>
              <a:rPr lang="en-US" dirty="0" err="1" smtClean="0">
                <a:latin typeface="Lexend Deca" charset="-78"/>
                <a:cs typeface="Lexend Deca" charset="-78"/>
              </a:rPr>
              <a:t>Geany</a:t>
            </a:r>
            <a:r>
              <a:rPr lang="en-US" dirty="0" smtClean="0">
                <a:latin typeface="Lexend Deca" charset="-78"/>
                <a:cs typeface="Lexend Deca" charset="-78"/>
              </a:rPr>
              <a:t>, </a:t>
            </a:r>
            <a:r>
              <a:rPr lang="en-US" dirty="0" err="1" smtClean="0">
                <a:latin typeface="Lexend Deca" charset="-78"/>
                <a:cs typeface="Lexend Deca" charset="-78"/>
              </a:rPr>
              <a:t>VSCode</a:t>
            </a:r>
            <a:r>
              <a:rPr lang="en-US" dirty="0" smtClean="0">
                <a:latin typeface="Lexend Deca" charset="-78"/>
                <a:cs typeface="Lexend Deca" charset="-78"/>
              </a:rPr>
              <a:t>.</a:t>
            </a:r>
          </a:p>
          <a:p>
            <a:pPr>
              <a:buNone/>
            </a:pPr>
            <a:r>
              <a:rPr lang="en-US" dirty="0" smtClean="0">
                <a:solidFill>
                  <a:schemeClr val="accent4"/>
                </a:solidFill>
                <a:latin typeface="Lexend Deca" charset="-78"/>
                <a:cs typeface="Lexend Deca" charset="-78"/>
              </a:rPr>
              <a:t>3. Data:</a:t>
            </a:r>
          </a:p>
          <a:p>
            <a:pPr marL="533400" indent="-457200">
              <a:buFont typeface="Wingdings" pitchFamily="2" charset="2"/>
              <a:buChar char="Ø"/>
            </a:pPr>
            <a:r>
              <a:rPr lang="en-US" dirty="0" smtClean="0">
                <a:latin typeface="Lexend Deca" charset="-78"/>
                <a:cs typeface="Lexend Deca" charset="-78"/>
              </a:rPr>
              <a:t>“emails.csv” (email dataset).</a:t>
            </a:r>
            <a:endParaRPr>
              <a:latin typeface="Lexend Deca" charset="-78"/>
              <a:cs typeface="Lexend Deca" charset="-78"/>
            </a:endParaRPr>
          </a:p>
        </p:txBody>
      </p:sp>
      <p:sp>
        <p:nvSpPr>
          <p:cNvPr id="105" name="Google Shape;105;p1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4" name="Google Shape;114;p19"/>
          <p:cNvPicPr preferRelativeResize="0"/>
          <p:nvPr/>
        </p:nvPicPr>
        <p:blipFill>
          <a:blip r:embed="rId3">
            <a:alphaModFix/>
          </a:blip>
          <a:stretch>
            <a:fillRect/>
          </a:stretch>
        </p:blipFill>
        <p:spPr>
          <a:xfrm>
            <a:off x="4744145" y="1434519"/>
            <a:ext cx="481900" cy="555275"/>
          </a:xfrm>
          <a:prstGeom prst="rect">
            <a:avLst/>
          </a:prstGeom>
          <a:noFill/>
          <a:ln>
            <a:noFill/>
          </a:ln>
        </p:spPr>
      </p:pic>
      <p:pic>
        <p:nvPicPr>
          <p:cNvPr id="115" name="Google Shape;115;p19"/>
          <p:cNvPicPr preferRelativeResize="0"/>
          <p:nvPr/>
        </p:nvPicPr>
        <p:blipFill>
          <a:blip r:embed="rId4">
            <a:alphaModFix/>
          </a:blip>
          <a:stretch>
            <a:fillRect/>
          </a:stretch>
        </p:blipFill>
        <p:spPr>
          <a:xfrm>
            <a:off x="4926874" y="1556212"/>
            <a:ext cx="481900" cy="555275"/>
          </a:xfrm>
          <a:prstGeom prst="rect">
            <a:avLst/>
          </a:prstGeom>
          <a:noFill/>
          <a:ln>
            <a:noFill/>
          </a:ln>
        </p:spPr>
      </p:pic>
      <p:pic>
        <p:nvPicPr>
          <p:cNvPr id="117" name="Google Shape;117;p19"/>
          <p:cNvPicPr preferRelativeResize="0"/>
          <p:nvPr/>
        </p:nvPicPr>
        <p:blipFill>
          <a:blip r:embed="rId5">
            <a:alphaModFix/>
          </a:blip>
          <a:stretch>
            <a:fillRect/>
          </a:stretch>
        </p:blipFill>
        <p:spPr>
          <a:xfrm>
            <a:off x="6011215" y="1777621"/>
            <a:ext cx="1111472" cy="961913"/>
          </a:xfrm>
          <a:prstGeom prst="rect">
            <a:avLst/>
          </a:prstGeom>
          <a:noFill/>
          <a:ln>
            <a:noFill/>
          </a:ln>
        </p:spPr>
      </p:pic>
      <p:pic>
        <p:nvPicPr>
          <p:cNvPr id="110" name="Google Shape;110;p19"/>
          <p:cNvPicPr preferRelativeResize="0"/>
          <p:nvPr/>
        </p:nvPicPr>
        <p:blipFill>
          <a:blip r:embed="rId6">
            <a:alphaModFix/>
          </a:blip>
          <a:stretch>
            <a:fillRect/>
          </a:stretch>
        </p:blipFill>
        <p:spPr>
          <a:xfrm>
            <a:off x="5567606" y="2211111"/>
            <a:ext cx="2017495" cy="1209250"/>
          </a:xfrm>
          <a:prstGeom prst="rect">
            <a:avLst/>
          </a:prstGeom>
          <a:noFill/>
          <a:ln>
            <a:noFill/>
          </a:ln>
        </p:spPr>
      </p:pic>
      <p:sp>
        <p:nvSpPr>
          <p:cNvPr id="111" name="Google Shape;111;p19"/>
          <p:cNvSpPr txBox="1">
            <a:spLocks noGrp="1"/>
          </p:cNvSpPr>
          <p:nvPr>
            <p:ph type="ctrTitle" idx="4294967295"/>
          </p:nvPr>
        </p:nvSpPr>
        <p:spPr>
          <a:xfrm>
            <a:off x="857224" y="1500180"/>
            <a:ext cx="9529802" cy="1980600"/>
          </a:xfrm>
          <a:prstGeom prst="rect">
            <a:avLst/>
          </a:prstGeom>
        </p:spPr>
        <p:txBody>
          <a:bodyPr spcFirstLastPara="1" wrap="square" lIns="0" tIns="0" rIns="0" bIns="0" anchor="t" anchorCtr="0">
            <a:noAutofit/>
          </a:bodyPr>
          <a:lstStyle/>
          <a:p>
            <a:pPr lvl="0"/>
            <a:r>
              <a:rPr lang="en-US" sz="5400" dirty="0" smtClean="0"/>
              <a:t>Implementation, </a:t>
            </a:r>
            <a:br>
              <a:rPr lang="en-US" sz="5400" dirty="0" smtClean="0"/>
            </a:br>
            <a:r>
              <a:rPr lang="en-US" sz="5400" dirty="0" smtClean="0"/>
              <a:t>and Testing</a:t>
            </a:r>
            <a:endParaRPr sz="5400"/>
          </a:p>
        </p:txBody>
      </p:sp>
      <p:sp>
        <p:nvSpPr>
          <p:cNvPr id="113" name="Google Shape;113;p19"/>
          <p:cNvSpPr txBox="1">
            <a:spLocks noGrp="1"/>
          </p:cNvSpPr>
          <p:nvPr>
            <p:ph type="sldNum" idx="12"/>
          </p:nvPr>
        </p:nvSpPr>
        <p:spPr>
          <a:xfrm>
            <a:off x="8837774" y="4749900"/>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pic>
        <p:nvPicPr>
          <p:cNvPr id="116" name="Google Shape;116;p19"/>
          <p:cNvPicPr preferRelativeResize="0"/>
          <p:nvPr/>
        </p:nvPicPr>
        <p:blipFill>
          <a:blip r:embed="rId5">
            <a:alphaModFix/>
          </a:blip>
          <a:stretch>
            <a:fillRect/>
          </a:stretch>
        </p:blipFill>
        <p:spPr>
          <a:xfrm>
            <a:off x="6011215" y="2170187"/>
            <a:ext cx="1111472" cy="961913"/>
          </a:xfrm>
          <a:prstGeom prst="rect">
            <a:avLst/>
          </a:prstGeom>
          <a:noFill/>
          <a:ln>
            <a:noFill/>
          </a:ln>
        </p:spPr>
      </p:pic>
      <p:pic>
        <p:nvPicPr>
          <p:cNvPr id="118" name="Google Shape;118;p19"/>
          <p:cNvPicPr preferRelativeResize="0"/>
          <p:nvPr/>
        </p:nvPicPr>
        <p:blipFill>
          <a:blip r:embed="rId7">
            <a:alphaModFix/>
          </a:blip>
          <a:stretch>
            <a:fillRect/>
          </a:stretch>
        </p:blipFill>
        <p:spPr>
          <a:xfrm>
            <a:off x="6000760" y="785849"/>
            <a:ext cx="1245500" cy="799942"/>
          </a:xfrm>
          <a:prstGeom prst="rect">
            <a:avLst/>
          </a:prstGeom>
          <a:noFill/>
          <a:ln>
            <a:noFill/>
          </a:ln>
        </p:spPr>
      </p:pic>
      <p:pic>
        <p:nvPicPr>
          <p:cNvPr id="119" name="Google Shape;119;p19"/>
          <p:cNvPicPr preferRelativeResize="0"/>
          <p:nvPr/>
        </p:nvPicPr>
        <p:blipFill>
          <a:blip r:embed="rId8">
            <a:alphaModFix/>
          </a:blip>
          <a:stretch>
            <a:fillRect/>
          </a:stretch>
        </p:blipFill>
        <p:spPr>
          <a:xfrm>
            <a:off x="7737492" y="1666811"/>
            <a:ext cx="848475" cy="555275"/>
          </a:xfrm>
          <a:prstGeom prst="rect">
            <a:avLst/>
          </a:prstGeom>
          <a:noFill/>
          <a:ln>
            <a:noFill/>
          </a:ln>
        </p:spPr>
      </p:pic>
      <p:cxnSp>
        <p:nvCxnSpPr>
          <p:cNvPr id="120" name="Google Shape;120;p19"/>
          <p:cNvCxnSpPr/>
          <p:nvPr/>
        </p:nvCxnSpPr>
        <p:spPr>
          <a:xfrm>
            <a:off x="7316015" y="3257337"/>
            <a:ext cx="664200" cy="383400"/>
          </a:xfrm>
          <a:prstGeom prst="straightConnector1">
            <a:avLst/>
          </a:prstGeom>
          <a:noFill/>
          <a:ln w="19050" cap="rnd" cmpd="sng">
            <a:solidFill>
              <a:schemeClr val="accent3"/>
            </a:solidFill>
            <a:prstDash val="dash"/>
            <a:round/>
            <a:headEnd type="none" w="med" len="med"/>
            <a:tailEnd type="none" w="med" len="med"/>
          </a:ln>
        </p:spPr>
      </p:cxnSp>
      <p:cxnSp>
        <p:nvCxnSpPr>
          <p:cNvPr id="121" name="Google Shape;121;p19"/>
          <p:cNvCxnSpPr/>
          <p:nvPr/>
        </p:nvCxnSpPr>
        <p:spPr>
          <a:xfrm>
            <a:off x="5267765" y="2035287"/>
            <a:ext cx="559800" cy="323100"/>
          </a:xfrm>
          <a:prstGeom prst="straightConnector1">
            <a:avLst/>
          </a:prstGeom>
          <a:noFill/>
          <a:ln w="19050" cap="rnd" cmpd="sng">
            <a:solidFill>
              <a:schemeClr val="accent6"/>
            </a:solidFill>
            <a:prstDash val="dash"/>
            <a:round/>
            <a:headEnd type="none" w="med" len="med"/>
            <a:tailEnd type="none" w="med" len="med"/>
          </a:ln>
        </p:spPr>
      </p:cxnSp>
      <p:pic>
        <p:nvPicPr>
          <p:cNvPr id="122" name="Google Shape;122;p19"/>
          <p:cNvPicPr preferRelativeResize="0"/>
          <p:nvPr/>
        </p:nvPicPr>
        <p:blipFill>
          <a:blip r:embed="rId9">
            <a:alphaModFix/>
          </a:blip>
          <a:stretch>
            <a:fillRect/>
          </a:stretch>
        </p:blipFill>
        <p:spPr>
          <a:xfrm>
            <a:off x="8060228" y="1370765"/>
            <a:ext cx="190716" cy="555275"/>
          </a:xfrm>
          <a:prstGeom prst="rect">
            <a:avLst/>
          </a:prstGeom>
          <a:noFill/>
          <a:ln>
            <a:noFill/>
          </a:ln>
        </p:spPr>
      </p:pic>
      <p:cxnSp>
        <p:nvCxnSpPr>
          <p:cNvPr id="123" name="Google Shape;123;p19"/>
          <p:cNvCxnSpPr/>
          <p:nvPr/>
        </p:nvCxnSpPr>
        <p:spPr>
          <a:xfrm flipH="1">
            <a:off x="4994765" y="3181137"/>
            <a:ext cx="936600" cy="540900"/>
          </a:xfrm>
          <a:prstGeom prst="straightConnector1">
            <a:avLst/>
          </a:prstGeom>
          <a:noFill/>
          <a:ln w="19050" cap="rnd" cmpd="sng">
            <a:solidFill>
              <a:schemeClr val="accent3"/>
            </a:solidFill>
            <a:prstDash val="dash"/>
            <a:round/>
            <a:headEnd type="none" w="med" len="med"/>
            <a:tailEnd type="none" w="med" len="med"/>
          </a:ln>
        </p:spPr>
      </p:cxnSp>
      <p:cxnSp>
        <p:nvCxnSpPr>
          <p:cNvPr id="124" name="Google Shape;124;p19"/>
          <p:cNvCxnSpPr/>
          <p:nvPr/>
        </p:nvCxnSpPr>
        <p:spPr>
          <a:xfrm flipH="1">
            <a:off x="7267415" y="2111487"/>
            <a:ext cx="559800" cy="323100"/>
          </a:xfrm>
          <a:prstGeom prst="straightConnector1">
            <a:avLst/>
          </a:prstGeom>
          <a:noFill/>
          <a:ln w="19050" cap="rnd" cmpd="sng">
            <a:solidFill>
              <a:schemeClr val="accent1"/>
            </a:solidFill>
            <a:prstDash val="dash"/>
            <a:round/>
            <a:headEnd type="none" w="med" len="med"/>
            <a:tailEnd type="none" w="med" len="med"/>
          </a:ln>
        </p:spPr>
      </p:cxnSp>
      <p:pic>
        <p:nvPicPr>
          <p:cNvPr id="125" name="Google Shape;125;p19"/>
          <p:cNvPicPr preferRelativeResize="0"/>
          <p:nvPr/>
        </p:nvPicPr>
        <p:blipFill>
          <a:blip r:embed="rId10">
            <a:alphaModFix/>
          </a:blip>
          <a:stretch>
            <a:fillRect/>
          </a:stretch>
        </p:blipFill>
        <p:spPr>
          <a:xfrm>
            <a:off x="4780053" y="2733045"/>
            <a:ext cx="1019495" cy="1122001"/>
          </a:xfrm>
          <a:prstGeom prst="rect">
            <a:avLst/>
          </a:prstGeom>
          <a:noFill/>
          <a:ln>
            <a:noFill/>
          </a:ln>
        </p:spPr>
      </p:pic>
      <p:pic>
        <p:nvPicPr>
          <p:cNvPr id="126" name="Google Shape;126;p19"/>
          <p:cNvPicPr preferRelativeResize="0"/>
          <p:nvPr/>
        </p:nvPicPr>
        <p:blipFill>
          <a:blip r:embed="rId11">
            <a:alphaModFix/>
          </a:blip>
          <a:stretch>
            <a:fillRect/>
          </a:stretch>
        </p:blipFill>
        <p:spPr>
          <a:xfrm>
            <a:off x="8017906" y="3288043"/>
            <a:ext cx="430025" cy="599150"/>
          </a:xfrm>
          <a:prstGeom prst="rect">
            <a:avLst/>
          </a:prstGeom>
          <a:noFill/>
          <a:ln>
            <a:noFill/>
          </a:ln>
        </p:spPr>
      </p:pic>
      <p:pic>
        <p:nvPicPr>
          <p:cNvPr id="127" name="Google Shape;127;p19"/>
          <p:cNvPicPr preferRelativeResize="0"/>
          <p:nvPr/>
        </p:nvPicPr>
        <p:blipFill>
          <a:blip r:embed="rId12">
            <a:alphaModFix/>
          </a:blip>
          <a:stretch>
            <a:fillRect/>
          </a:stretch>
        </p:blipFill>
        <p:spPr>
          <a:xfrm>
            <a:off x="8391323" y="3448404"/>
            <a:ext cx="430025" cy="599150"/>
          </a:xfrm>
          <a:prstGeom prst="rect">
            <a:avLst/>
          </a:prstGeom>
          <a:noFill/>
          <a:ln>
            <a:noFill/>
          </a:ln>
        </p:spPr>
      </p:pic>
      <p:sp>
        <p:nvSpPr>
          <p:cNvPr id="128" name="Google Shape;128;p19"/>
          <p:cNvSpPr/>
          <p:nvPr/>
        </p:nvSpPr>
        <p:spPr>
          <a:xfrm>
            <a:off x="6471540" y="1645299"/>
            <a:ext cx="190800" cy="476700"/>
          </a:xfrm>
          <a:prstGeom prst="upDownArrow">
            <a:avLst>
              <a:gd name="adj1" fmla="val 50000"/>
              <a:gd name="adj2" fmla="val 50000"/>
            </a:avLst>
          </a:prstGeom>
          <a:gradFill>
            <a:gsLst>
              <a:gs pos="0">
                <a:schemeClr val="accent4"/>
              </a:gs>
              <a:gs pos="100000">
                <a:srgbClr val="00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0"/>
          <p:cNvSpPr txBox="1">
            <a:spLocks noGrp="1"/>
          </p:cNvSpPr>
          <p:nvPr>
            <p:ph type="title"/>
          </p:nvPr>
        </p:nvSpPr>
        <p:spPr>
          <a:xfrm>
            <a:off x="580550" y="205975"/>
            <a:ext cx="6098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Spam Mail Test Case</a:t>
            </a:r>
            <a:endParaRPr/>
          </a:p>
        </p:txBody>
      </p:sp>
      <p:sp>
        <p:nvSpPr>
          <p:cNvPr id="136" name="Google Shape;136;p2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pic>
        <p:nvPicPr>
          <p:cNvPr id="4099" name="Picture 3"/>
          <p:cNvPicPr>
            <a:picLocks noChangeAspect="1" noChangeArrowheads="1"/>
          </p:cNvPicPr>
          <p:nvPr/>
        </p:nvPicPr>
        <p:blipFill>
          <a:blip r:embed="rId3"/>
          <a:srcRect/>
          <a:stretch>
            <a:fillRect/>
          </a:stretch>
        </p:blipFill>
        <p:spPr bwMode="auto">
          <a:xfrm>
            <a:off x="642910" y="1714494"/>
            <a:ext cx="8215338" cy="16986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Result</a:t>
            </a:r>
            <a:endParaRP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pic>
        <p:nvPicPr>
          <p:cNvPr id="2052" name="Picture 4"/>
          <p:cNvPicPr>
            <a:picLocks noChangeAspect="1" noChangeArrowheads="1"/>
          </p:cNvPicPr>
          <p:nvPr/>
        </p:nvPicPr>
        <p:blipFill>
          <a:blip r:embed="rId3"/>
          <a:srcRect/>
          <a:stretch>
            <a:fillRect/>
          </a:stretch>
        </p:blipFill>
        <p:spPr bwMode="auto">
          <a:xfrm>
            <a:off x="1071538" y="1285866"/>
            <a:ext cx="7108828" cy="29008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0"/>
          <p:cNvSpPr txBox="1">
            <a:spLocks noGrp="1"/>
          </p:cNvSpPr>
          <p:nvPr>
            <p:ph type="title"/>
          </p:nvPr>
        </p:nvSpPr>
        <p:spPr>
          <a:xfrm>
            <a:off x="580550" y="205975"/>
            <a:ext cx="6098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Ham Mail Test Case</a:t>
            </a:r>
            <a:endParaRPr/>
          </a:p>
        </p:txBody>
      </p:sp>
      <p:sp>
        <p:nvSpPr>
          <p:cNvPr id="136" name="Google Shape;136;p2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pic>
        <p:nvPicPr>
          <p:cNvPr id="4" name="Picture 2"/>
          <p:cNvPicPr>
            <a:picLocks noChangeAspect="1" noChangeArrowheads="1"/>
          </p:cNvPicPr>
          <p:nvPr/>
        </p:nvPicPr>
        <p:blipFill>
          <a:blip r:embed="rId3"/>
          <a:srcRect/>
          <a:stretch>
            <a:fillRect/>
          </a:stretch>
        </p:blipFill>
        <p:spPr bwMode="auto">
          <a:xfrm>
            <a:off x="571472" y="1857370"/>
            <a:ext cx="8249073" cy="16825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Result</a:t>
            </a:r>
            <a:endParaRP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pic>
        <p:nvPicPr>
          <p:cNvPr id="4" name="Picture 3"/>
          <p:cNvPicPr>
            <a:picLocks noChangeAspect="1" noChangeArrowheads="1"/>
          </p:cNvPicPr>
          <p:nvPr/>
        </p:nvPicPr>
        <p:blipFill>
          <a:blip r:embed="rId3"/>
          <a:srcRect/>
          <a:stretch>
            <a:fillRect/>
          </a:stretch>
        </p:blipFill>
        <p:spPr bwMode="auto">
          <a:xfrm>
            <a:off x="1185540" y="1428742"/>
            <a:ext cx="6698252" cy="27860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ctrTitle"/>
          </p:nvPr>
        </p:nvSpPr>
        <p:spPr>
          <a:xfrm>
            <a:off x="714348" y="1142990"/>
            <a:ext cx="4529142" cy="1714512"/>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5400" dirty="0" smtClean="0"/>
              <a:t>Conclusion</a:t>
            </a:r>
            <a:endParaRPr sz="5400"/>
          </a:p>
        </p:txBody>
      </p:sp>
      <p:pic>
        <p:nvPicPr>
          <p:cNvPr id="394" name="Google Shape;394;p38"/>
          <p:cNvPicPr preferRelativeResize="0"/>
          <p:nvPr/>
        </p:nvPicPr>
        <p:blipFill>
          <a:blip r:embed="rId3">
            <a:alphaModFix/>
          </a:blip>
          <a:stretch>
            <a:fillRect/>
          </a:stretch>
        </p:blipFill>
        <p:spPr>
          <a:xfrm>
            <a:off x="5983976" y="1373675"/>
            <a:ext cx="1519400" cy="1731550"/>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8" name="Google Shape;378;p36"/>
          <p:cNvSpPr txBox="1">
            <a:spLocks noGrp="1"/>
          </p:cNvSpPr>
          <p:nvPr>
            <p:ph type="body" idx="1"/>
          </p:nvPr>
        </p:nvSpPr>
        <p:spPr>
          <a:xfrm>
            <a:off x="571472" y="1142990"/>
            <a:ext cx="6014400" cy="3161700"/>
          </a:xfrm>
          <a:prstGeom prst="rect">
            <a:avLst/>
          </a:prstGeom>
        </p:spPr>
        <p:txBody>
          <a:bodyPr spcFirstLastPara="1" wrap="square" lIns="0" tIns="0" rIns="0" bIns="0" anchor="t" anchorCtr="0">
            <a:noAutofit/>
          </a:bodyPr>
          <a:lstStyle/>
          <a:p>
            <a:pPr lvl="0">
              <a:buFont typeface="Wingdings" pitchFamily="2" charset="2"/>
              <a:buChar char="Ø"/>
            </a:pPr>
            <a:r>
              <a:rPr lang="en-US" sz="2000" dirty="0" smtClean="0">
                <a:latin typeface="Lexend Deca" charset="-78"/>
                <a:cs typeface="Lexend Deca" charset="-78"/>
              </a:rPr>
              <a:t>The machine learning-based network/email security project successfully detected and classified threats, reduced false positives, demonstrated scalability, contributing significantly to security measures. </a:t>
            </a:r>
          </a:p>
          <a:p>
            <a:pPr lvl="0">
              <a:buFont typeface="Wingdings" pitchFamily="2" charset="2"/>
              <a:buChar char="Ø"/>
            </a:pPr>
            <a:r>
              <a:rPr lang="en-US" sz="2000" dirty="0" smtClean="0">
                <a:latin typeface="Lexend Deca" charset="-78"/>
                <a:cs typeface="Lexend Deca" charset="-78"/>
              </a:rPr>
              <a:t>It helps an user to identify some common spam emails and ham mails that are present in our dataset.</a:t>
            </a:r>
          </a:p>
          <a:p>
            <a:pPr marL="0" lvl="0" indent="0" algn="l" rtl="0">
              <a:spcBef>
                <a:spcPts val="600"/>
              </a:spcBef>
              <a:spcAft>
                <a:spcPts val="0"/>
              </a:spcAft>
              <a:buNone/>
            </a:pPr>
            <a:endParaRPr sz="2000">
              <a:latin typeface="Lexend Deca" charset="-78"/>
              <a:cs typeface="Lexend Deca" charset="-78"/>
            </a:endParaRPr>
          </a:p>
        </p:txBody>
      </p:sp>
      <p:sp>
        <p:nvSpPr>
          <p:cNvPr id="379" name="Google Shape;379;p3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sp>
        <p:nvSpPr>
          <p:cNvPr id="368" name="Google Shape;368;p35"/>
          <p:cNvSpPr txBox="1">
            <a:spLocks noGrp="1"/>
          </p:cNvSpPr>
          <p:nvPr>
            <p:ph type="ctrTitle" idx="4294967295"/>
          </p:nvPr>
        </p:nvSpPr>
        <p:spPr>
          <a:xfrm>
            <a:off x="785786" y="1500180"/>
            <a:ext cx="3617400" cy="92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dirty="0"/>
              <a:t>Thanks!</a:t>
            </a:r>
            <a:endParaRPr sz="7200"/>
          </a:p>
        </p:txBody>
      </p:sp>
      <p:sp>
        <p:nvSpPr>
          <p:cNvPr id="369" name="Google Shape;369;p35"/>
          <p:cNvSpPr txBox="1">
            <a:spLocks noGrp="1"/>
          </p:cNvSpPr>
          <p:nvPr>
            <p:ph type="subTitle" idx="4294967295"/>
          </p:nvPr>
        </p:nvSpPr>
        <p:spPr>
          <a:xfrm>
            <a:off x="857224" y="2357436"/>
            <a:ext cx="3617400" cy="14997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2000" dirty="0">
                <a:solidFill>
                  <a:schemeClr val="accent4"/>
                </a:solidFill>
                <a:latin typeface="Lexend Deca" charset="-78"/>
                <a:cs typeface="Lexend Deca" charset="-78"/>
              </a:rPr>
              <a:t>Any questions</a:t>
            </a:r>
            <a:r>
              <a:rPr lang="en" sz="2000" dirty="0" smtClean="0">
                <a:solidFill>
                  <a:schemeClr val="accent4"/>
                </a:solidFill>
                <a:latin typeface="Lexend Deca" charset="-78"/>
                <a:cs typeface="Lexend Deca" charset="-78"/>
              </a:rPr>
              <a:t>?</a:t>
            </a:r>
            <a:endParaRPr lang="en" sz="2000" dirty="0">
              <a:solidFill>
                <a:schemeClr val="accent4"/>
              </a:solidFill>
              <a:latin typeface="Lexend Deca" charset="-78"/>
              <a:cs typeface="Lexend Deca" charset="-78"/>
            </a:endParaRPr>
          </a:p>
        </p:txBody>
      </p:sp>
      <p:pic>
        <p:nvPicPr>
          <p:cNvPr id="370" name="Google Shape;370;p35"/>
          <p:cNvPicPr preferRelativeResize="0"/>
          <p:nvPr/>
        </p:nvPicPr>
        <p:blipFill>
          <a:blip r:embed="rId3">
            <a:alphaModFix/>
          </a:blip>
          <a:stretch>
            <a:fillRect/>
          </a:stretch>
        </p:blipFill>
        <p:spPr>
          <a:xfrm>
            <a:off x="3924900" y="2681025"/>
            <a:ext cx="3171324" cy="1889775"/>
          </a:xfrm>
          <a:prstGeom prst="rect">
            <a:avLst/>
          </a:prstGeom>
          <a:noFill/>
          <a:ln>
            <a:noFill/>
          </a:ln>
        </p:spPr>
      </p:pic>
      <p:pic>
        <p:nvPicPr>
          <p:cNvPr id="371" name="Google Shape;371;p35"/>
          <p:cNvPicPr preferRelativeResize="0"/>
          <p:nvPr/>
        </p:nvPicPr>
        <p:blipFill>
          <a:blip r:embed="rId4">
            <a:alphaModFix/>
          </a:blip>
          <a:stretch>
            <a:fillRect/>
          </a:stretch>
        </p:blipFill>
        <p:spPr>
          <a:xfrm>
            <a:off x="5160014" y="1914980"/>
            <a:ext cx="548700" cy="1597701"/>
          </a:xfrm>
          <a:prstGeom prst="rect">
            <a:avLst/>
          </a:prstGeom>
          <a:noFill/>
          <a:ln>
            <a:noFill/>
          </a:ln>
        </p:spPr>
      </p:pic>
      <p:pic>
        <p:nvPicPr>
          <p:cNvPr id="372" name="Google Shape;372;p35"/>
          <p:cNvPicPr preferRelativeResize="0"/>
          <p:nvPr/>
        </p:nvPicPr>
        <p:blipFill>
          <a:blip r:embed="rId5">
            <a:alphaModFix/>
          </a:blip>
          <a:stretch>
            <a:fillRect/>
          </a:stretch>
        </p:blipFill>
        <p:spPr>
          <a:xfrm>
            <a:off x="4946909" y="581600"/>
            <a:ext cx="1279700" cy="1498275"/>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5"/>
          <p:cNvSpPr txBox="1">
            <a:spLocks noGrp="1"/>
          </p:cNvSpPr>
          <p:nvPr>
            <p:ph type="title"/>
          </p:nvPr>
        </p:nvSpPr>
        <p:spPr>
          <a:xfrm>
            <a:off x="1500166" y="928676"/>
            <a:ext cx="6014400" cy="8574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4400" dirty="0"/>
              <a:t>Team Presentation</a:t>
            </a:r>
            <a:endParaRPr sz="4400"/>
          </a:p>
        </p:txBody>
      </p:sp>
      <p:sp>
        <p:nvSpPr>
          <p:cNvPr id="566" name="Google Shape;566;p4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568" name="Google Shape;568;p45"/>
          <p:cNvSpPr txBox="1"/>
          <p:nvPr/>
        </p:nvSpPr>
        <p:spPr>
          <a:xfrm>
            <a:off x="214282" y="2357436"/>
            <a:ext cx="1700409" cy="734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dirty="0" smtClean="0">
                <a:solidFill>
                  <a:schemeClr val="lt1"/>
                </a:solidFill>
                <a:latin typeface="Muli"/>
                <a:ea typeface="Muli"/>
                <a:cs typeface="Muli"/>
                <a:sym typeface="Muli"/>
              </a:rPr>
              <a:t>M.HANUMANTHARAO</a:t>
            </a:r>
            <a:r>
              <a:rPr lang="en" dirty="0">
                <a:solidFill>
                  <a:schemeClr val="lt1"/>
                </a:solidFill>
                <a:latin typeface="Muli"/>
                <a:ea typeface="Muli"/>
                <a:cs typeface="Muli"/>
                <a:sym typeface="Muli"/>
              </a:rPr>
              <a:t/>
            </a:r>
            <a:br>
              <a:rPr lang="en" dirty="0">
                <a:solidFill>
                  <a:schemeClr val="lt1"/>
                </a:solidFill>
                <a:latin typeface="Muli"/>
                <a:ea typeface="Muli"/>
                <a:cs typeface="Muli"/>
                <a:sym typeface="Muli"/>
              </a:rPr>
            </a:br>
            <a:r>
              <a:rPr lang="en-IN" sz="800" dirty="0" smtClean="0">
                <a:solidFill>
                  <a:schemeClr val="lt1"/>
                </a:solidFill>
                <a:latin typeface="Muli"/>
                <a:ea typeface="Muli"/>
                <a:cs typeface="Muli"/>
                <a:sym typeface="Muli"/>
              </a:rPr>
              <a:t>21BIT0487</a:t>
            </a:r>
            <a:endParaRPr>
              <a:solidFill>
                <a:schemeClr val="lt1"/>
              </a:solidFill>
              <a:latin typeface="Muli"/>
              <a:ea typeface="Muli"/>
              <a:cs typeface="Muli"/>
              <a:sym typeface="Muli"/>
            </a:endParaRPr>
          </a:p>
          <a:p>
            <a:pPr marL="0" lvl="0" indent="0" algn="ctr" rtl="0">
              <a:spcBef>
                <a:spcPts val="400"/>
              </a:spcBef>
              <a:spcAft>
                <a:spcPts val="400"/>
              </a:spcAft>
              <a:buNone/>
            </a:pPr>
            <a:endParaRPr>
              <a:solidFill>
                <a:schemeClr val="lt1"/>
              </a:solidFill>
              <a:latin typeface="Muli"/>
              <a:ea typeface="Muli"/>
              <a:cs typeface="Muli"/>
              <a:sym typeface="Muli"/>
            </a:endParaRPr>
          </a:p>
        </p:txBody>
      </p:sp>
      <p:sp>
        <p:nvSpPr>
          <p:cNvPr id="570" name="Google Shape;570;p45"/>
          <p:cNvSpPr txBox="1"/>
          <p:nvPr/>
        </p:nvSpPr>
        <p:spPr>
          <a:xfrm>
            <a:off x="2143108" y="2357436"/>
            <a:ext cx="1489200" cy="734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dirty="0" smtClean="0">
                <a:solidFill>
                  <a:schemeClr val="lt1"/>
                </a:solidFill>
                <a:latin typeface="Muli"/>
                <a:ea typeface="Muli"/>
                <a:cs typeface="Muli"/>
                <a:sym typeface="Muli"/>
              </a:rPr>
              <a:t>S.NAVANEETH</a:t>
            </a:r>
            <a:r>
              <a:rPr lang="en" dirty="0">
                <a:solidFill>
                  <a:schemeClr val="lt1"/>
                </a:solidFill>
                <a:latin typeface="Muli"/>
                <a:ea typeface="Muli"/>
                <a:cs typeface="Muli"/>
                <a:sym typeface="Muli"/>
              </a:rPr>
              <a:t/>
            </a:r>
            <a:br>
              <a:rPr lang="en" dirty="0">
                <a:solidFill>
                  <a:schemeClr val="lt1"/>
                </a:solidFill>
                <a:latin typeface="Muli"/>
                <a:ea typeface="Muli"/>
                <a:cs typeface="Muli"/>
                <a:sym typeface="Muli"/>
              </a:rPr>
            </a:br>
            <a:r>
              <a:rPr lang="en-IN" sz="800" dirty="0" smtClean="0">
                <a:solidFill>
                  <a:schemeClr val="lt1"/>
                </a:solidFill>
                <a:latin typeface="Muli"/>
                <a:ea typeface="Muli"/>
                <a:cs typeface="Muli"/>
                <a:sym typeface="Muli"/>
              </a:rPr>
              <a:t>21BIT0464</a:t>
            </a:r>
            <a:endParaRPr>
              <a:solidFill>
                <a:schemeClr val="lt1"/>
              </a:solidFill>
              <a:latin typeface="Muli"/>
              <a:ea typeface="Muli"/>
              <a:cs typeface="Muli"/>
              <a:sym typeface="Muli"/>
            </a:endParaRPr>
          </a:p>
          <a:p>
            <a:pPr marL="0" lvl="0" indent="0" algn="ctr" rtl="0">
              <a:spcBef>
                <a:spcPts val="400"/>
              </a:spcBef>
              <a:spcAft>
                <a:spcPts val="400"/>
              </a:spcAft>
              <a:buNone/>
            </a:pPr>
            <a:endParaRPr>
              <a:solidFill>
                <a:schemeClr val="lt1"/>
              </a:solidFill>
              <a:latin typeface="Muli"/>
              <a:ea typeface="Muli"/>
              <a:cs typeface="Muli"/>
              <a:sym typeface="Muli"/>
            </a:endParaRPr>
          </a:p>
        </p:txBody>
      </p:sp>
      <p:sp>
        <p:nvSpPr>
          <p:cNvPr id="572" name="Google Shape;572;p45"/>
          <p:cNvSpPr txBox="1"/>
          <p:nvPr/>
        </p:nvSpPr>
        <p:spPr>
          <a:xfrm>
            <a:off x="3714744" y="2357436"/>
            <a:ext cx="1489200" cy="734100"/>
          </a:xfrm>
          <a:prstGeom prst="rect">
            <a:avLst/>
          </a:prstGeom>
          <a:noFill/>
          <a:ln>
            <a:noFill/>
          </a:ln>
        </p:spPr>
        <p:txBody>
          <a:bodyPr spcFirstLastPara="1" wrap="square" lIns="0" tIns="0" rIns="0" bIns="0" anchor="t" anchorCtr="0">
            <a:noAutofit/>
          </a:bodyPr>
          <a:lstStyle/>
          <a:p>
            <a:pPr lvl="0" algn="ctr"/>
            <a:r>
              <a:rPr lang="en-US" sz="1200" b="1" dirty="0" smtClean="0">
                <a:solidFill>
                  <a:schemeClr val="lt1"/>
                </a:solidFill>
                <a:latin typeface="Muli"/>
                <a:ea typeface="Muli"/>
                <a:cs typeface="Muli"/>
                <a:sym typeface="Muli"/>
              </a:rPr>
              <a:t>K.VISHNU KUMAR</a:t>
            </a:r>
            <a:r>
              <a:rPr lang="en-US" sz="1200" dirty="0" smtClean="0">
                <a:solidFill>
                  <a:schemeClr val="lt1"/>
                </a:solidFill>
                <a:latin typeface="Muli"/>
                <a:ea typeface="Muli"/>
                <a:cs typeface="Muli"/>
                <a:sym typeface="Muli"/>
              </a:rPr>
              <a:t/>
            </a:r>
            <a:br>
              <a:rPr lang="en-US" sz="1200" dirty="0" smtClean="0">
                <a:solidFill>
                  <a:schemeClr val="lt1"/>
                </a:solidFill>
                <a:latin typeface="Muli"/>
                <a:ea typeface="Muli"/>
                <a:cs typeface="Muli"/>
                <a:sym typeface="Muli"/>
              </a:rPr>
            </a:br>
            <a:r>
              <a:rPr lang="en-US" sz="800" dirty="0" smtClean="0">
                <a:solidFill>
                  <a:schemeClr val="lt1"/>
                </a:solidFill>
                <a:latin typeface="Muli"/>
                <a:ea typeface="Muli"/>
                <a:cs typeface="Muli"/>
                <a:sym typeface="Muli"/>
              </a:rPr>
              <a:t>21BIT0166</a:t>
            </a:r>
            <a:endParaRPr lang="en-US" sz="1200" dirty="0" smtClean="0">
              <a:solidFill>
                <a:schemeClr val="lt1"/>
              </a:solidFill>
              <a:latin typeface="Muli"/>
              <a:ea typeface="Muli"/>
              <a:cs typeface="Muli"/>
              <a:sym typeface="Muli"/>
            </a:endParaRPr>
          </a:p>
          <a:p>
            <a:pPr lvl="0" algn="ctr">
              <a:spcBef>
                <a:spcPts val="400"/>
              </a:spcBef>
              <a:spcAft>
                <a:spcPts val="400"/>
              </a:spcAft>
            </a:pPr>
            <a:endParaRPr lang="en-US" sz="1200" dirty="0">
              <a:solidFill>
                <a:schemeClr val="lt1"/>
              </a:solidFill>
              <a:latin typeface="Muli"/>
              <a:ea typeface="Muli"/>
              <a:cs typeface="Muli"/>
              <a:sym typeface="Muli"/>
            </a:endParaRPr>
          </a:p>
        </p:txBody>
      </p:sp>
      <p:sp>
        <p:nvSpPr>
          <p:cNvPr id="574" name="Google Shape;574;p45"/>
          <p:cNvSpPr txBox="1"/>
          <p:nvPr/>
        </p:nvSpPr>
        <p:spPr>
          <a:xfrm>
            <a:off x="5429256" y="2357436"/>
            <a:ext cx="1833464" cy="734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dirty="0" smtClean="0">
                <a:solidFill>
                  <a:schemeClr val="lt1"/>
                </a:solidFill>
                <a:latin typeface="Muli"/>
                <a:ea typeface="Muli"/>
                <a:cs typeface="Muli"/>
                <a:sym typeface="Muli"/>
              </a:rPr>
              <a:t>M.YESES CHANDRA REDDY</a:t>
            </a:r>
            <a:r>
              <a:rPr lang="en" dirty="0">
                <a:solidFill>
                  <a:schemeClr val="lt1"/>
                </a:solidFill>
                <a:latin typeface="Muli"/>
                <a:ea typeface="Muli"/>
                <a:cs typeface="Muli"/>
                <a:sym typeface="Muli"/>
              </a:rPr>
              <a:t/>
            </a:r>
            <a:br>
              <a:rPr lang="en" dirty="0">
                <a:solidFill>
                  <a:schemeClr val="lt1"/>
                </a:solidFill>
                <a:latin typeface="Muli"/>
                <a:ea typeface="Muli"/>
                <a:cs typeface="Muli"/>
                <a:sym typeface="Muli"/>
              </a:rPr>
            </a:br>
            <a:r>
              <a:rPr lang="en-IN" sz="800" dirty="0" smtClean="0">
                <a:solidFill>
                  <a:schemeClr val="lt1"/>
                </a:solidFill>
                <a:latin typeface="Muli"/>
                <a:ea typeface="Muli"/>
                <a:cs typeface="Muli"/>
                <a:sym typeface="Muli"/>
              </a:rPr>
              <a:t>21BIT0585</a:t>
            </a:r>
            <a:endParaRPr smtClean="0">
              <a:solidFill>
                <a:schemeClr val="lt1"/>
              </a:solidFill>
              <a:latin typeface="Muli"/>
              <a:ea typeface="Muli"/>
              <a:cs typeface="Muli"/>
              <a:sym typeface="Muli"/>
            </a:endParaRPr>
          </a:p>
          <a:p>
            <a:pPr marL="0" lvl="0" indent="0" algn="ctr" rtl="0">
              <a:spcBef>
                <a:spcPts val="400"/>
              </a:spcBef>
              <a:spcAft>
                <a:spcPts val="400"/>
              </a:spcAft>
              <a:buNone/>
            </a:pPr>
            <a:endParaRPr>
              <a:solidFill>
                <a:schemeClr val="lt1"/>
              </a:solidFill>
              <a:latin typeface="Muli"/>
              <a:ea typeface="Muli"/>
              <a:cs typeface="Muli"/>
              <a:sym typeface="Muli"/>
            </a:endParaRPr>
          </a:p>
        </p:txBody>
      </p:sp>
      <p:sp>
        <p:nvSpPr>
          <p:cNvPr id="13" name="Rectangle 12"/>
          <p:cNvSpPr/>
          <p:nvPr/>
        </p:nvSpPr>
        <p:spPr>
          <a:xfrm>
            <a:off x="7215158" y="2285998"/>
            <a:ext cx="1928842" cy="682238"/>
          </a:xfrm>
          <a:prstGeom prst="rect">
            <a:avLst/>
          </a:prstGeom>
        </p:spPr>
        <p:txBody>
          <a:bodyPr wrap="square">
            <a:spAutoFit/>
          </a:bodyPr>
          <a:lstStyle/>
          <a:p>
            <a:pPr lvl="0" algn="ctr"/>
            <a:r>
              <a:rPr lang="en-US" sz="1200" b="1" dirty="0" smtClean="0">
                <a:solidFill>
                  <a:schemeClr val="lt1"/>
                </a:solidFill>
                <a:latin typeface="Muli"/>
                <a:ea typeface="Muli"/>
                <a:cs typeface="Muli"/>
                <a:sym typeface="Muli"/>
              </a:rPr>
              <a:t>SAI KRISHNA NP</a:t>
            </a:r>
            <a:r>
              <a:rPr lang="en-US" dirty="0" smtClean="0">
                <a:solidFill>
                  <a:schemeClr val="lt1"/>
                </a:solidFill>
                <a:latin typeface="Muli"/>
                <a:ea typeface="Muli"/>
                <a:cs typeface="Muli"/>
                <a:sym typeface="Muli"/>
              </a:rPr>
              <a:t/>
            </a:r>
            <a:br>
              <a:rPr lang="en-US" dirty="0" smtClean="0">
                <a:solidFill>
                  <a:schemeClr val="lt1"/>
                </a:solidFill>
                <a:latin typeface="Muli"/>
                <a:ea typeface="Muli"/>
                <a:cs typeface="Muli"/>
                <a:sym typeface="Muli"/>
              </a:rPr>
            </a:br>
            <a:r>
              <a:rPr lang="en-US" sz="900" dirty="0" smtClean="0">
                <a:solidFill>
                  <a:schemeClr val="lt1"/>
                </a:solidFill>
                <a:latin typeface="Muli"/>
                <a:ea typeface="Muli"/>
                <a:cs typeface="Muli"/>
                <a:sym typeface="Muli"/>
              </a:rPr>
              <a:t>21BIT0419</a:t>
            </a:r>
            <a:endParaRPr lang="en-US" dirty="0" smtClean="0">
              <a:solidFill>
                <a:schemeClr val="lt1"/>
              </a:solidFill>
              <a:latin typeface="Muli"/>
              <a:ea typeface="Muli"/>
              <a:cs typeface="Muli"/>
              <a:sym typeface="Muli"/>
            </a:endParaRPr>
          </a:p>
          <a:p>
            <a:pPr lvl="0" algn="ctr">
              <a:spcBef>
                <a:spcPts val="400"/>
              </a:spcBef>
              <a:spcAft>
                <a:spcPts val="400"/>
              </a:spcAft>
            </a:pPr>
            <a:endParaRPr lang="en-US" dirty="0">
              <a:solidFill>
                <a:schemeClr val="lt1"/>
              </a:solidFill>
              <a:latin typeface="Muli"/>
              <a:ea typeface="Muli"/>
              <a:cs typeface="Muli"/>
              <a:sym typeface="Muli"/>
            </a:endParaRPr>
          </a:p>
        </p:txBody>
      </p:sp>
      <p:sp>
        <p:nvSpPr>
          <p:cNvPr id="9" name="Rectangle 8"/>
          <p:cNvSpPr/>
          <p:nvPr/>
        </p:nvSpPr>
        <p:spPr>
          <a:xfrm>
            <a:off x="4429124" y="3500444"/>
            <a:ext cx="4572000" cy="1597873"/>
          </a:xfrm>
          <a:prstGeom prst="rect">
            <a:avLst/>
          </a:prstGeom>
        </p:spPr>
        <p:txBody>
          <a:bodyPr>
            <a:spAutoFit/>
          </a:bodyPr>
          <a:lstStyle/>
          <a:p>
            <a:pPr lvl="3"/>
            <a:r>
              <a:rPr lang="en-US" b="1" dirty="0" smtClean="0">
                <a:solidFill>
                  <a:schemeClr val="lt1"/>
                </a:solidFill>
                <a:latin typeface="Muli"/>
                <a:ea typeface="Muli"/>
                <a:cs typeface="Muli"/>
                <a:sym typeface="Muli"/>
              </a:rPr>
              <a:t>		Guided by faculty -</a:t>
            </a:r>
            <a:r>
              <a:rPr lang="en-US" dirty="0" smtClean="0">
                <a:solidFill>
                  <a:schemeClr val="lt1"/>
                </a:solidFill>
                <a:latin typeface="Muli"/>
                <a:ea typeface="Muli"/>
                <a:cs typeface="Muli"/>
                <a:sym typeface="Muli"/>
              </a:rPr>
              <a:t/>
            </a:r>
            <a:br>
              <a:rPr lang="en-US" dirty="0" smtClean="0">
                <a:solidFill>
                  <a:schemeClr val="lt1"/>
                </a:solidFill>
                <a:latin typeface="Muli"/>
                <a:ea typeface="Muli"/>
                <a:cs typeface="Muli"/>
                <a:sym typeface="Muli"/>
              </a:rPr>
            </a:br>
            <a:r>
              <a:rPr lang="en-US" dirty="0" smtClean="0">
                <a:solidFill>
                  <a:schemeClr val="lt1"/>
                </a:solidFill>
                <a:latin typeface="Muli"/>
                <a:ea typeface="Muli"/>
                <a:cs typeface="Muli"/>
                <a:sym typeface="Muli"/>
              </a:rPr>
              <a:t>		</a:t>
            </a:r>
            <a:r>
              <a:rPr lang="en-US" sz="1050" b="1" dirty="0" smtClean="0">
                <a:solidFill>
                  <a:schemeClr val="lt1"/>
                </a:solidFill>
                <a:latin typeface="Muli"/>
                <a:ea typeface="Muli"/>
                <a:cs typeface="Muli"/>
                <a:sym typeface="Muli"/>
              </a:rPr>
              <a:t>Dr. </a:t>
            </a:r>
            <a:r>
              <a:rPr lang="en-US" sz="1050" b="1" dirty="0" err="1" smtClean="0">
                <a:solidFill>
                  <a:schemeClr val="lt1"/>
                </a:solidFill>
                <a:latin typeface="Muli"/>
                <a:ea typeface="Muli"/>
                <a:cs typeface="Muli"/>
                <a:sym typeface="Muli"/>
              </a:rPr>
              <a:t>Mohana</a:t>
            </a:r>
            <a:r>
              <a:rPr lang="en-US" sz="1050" b="1" dirty="0" smtClean="0">
                <a:solidFill>
                  <a:schemeClr val="lt1"/>
                </a:solidFill>
                <a:latin typeface="Muli"/>
                <a:ea typeface="Muli"/>
                <a:cs typeface="Muli"/>
                <a:sym typeface="Muli"/>
              </a:rPr>
              <a:t> </a:t>
            </a:r>
            <a:r>
              <a:rPr lang="en-US" sz="1050" b="1" dirty="0" err="1" smtClean="0">
                <a:solidFill>
                  <a:schemeClr val="lt1"/>
                </a:solidFill>
                <a:latin typeface="Muli"/>
                <a:ea typeface="Muli"/>
                <a:cs typeface="Muli"/>
                <a:sym typeface="Muli"/>
              </a:rPr>
              <a:t>Priya</a:t>
            </a:r>
            <a:r>
              <a:rPr lang="en-US" sz="1050" b="1" dirty="0" smtClean="0">
                <a:solidFill>
                  <a:schemeClr val="lt1"/>
                </a:solidFill>
                <a:latin typeface="Muli"/>
                <a:ea typeface="Muli"/>
                <a:cs typeface="Muli"/>
                <a:sym typeface="Muli"/>
              </a:rPr>
              <a:t> P</a:t>
            </a:r>
          </a:p>
          <a:p>
            <a:pPr lvl="3"/>
            <a:endParaRPr lang="en-US" sz="1050" b="1" dirty="0" smtClean="0">
              <a:solidFill>
                <a:schemeClr val="lt1"/>
              </a:solidFill>
              <a:latin typeface="Muli"/>
              <a:ea typeface="Muli"/>
              <a:cs typeface="Muli"/>
              <a:sym typeface="Muli"/>
            </a:endParaRPr>
          </a:p>
          <a:p>
            <a:r>
              <a:rPr lang="en-IN" sz="1050" b="1" dirty="0" smtClean="0">
                <a:solidFill>
                  <a:schemeClr val="lt1"/>
                </a:solidFill>
                <a:latin typeface="Muli"/>
                <a:ea typeface="Muli"/>
                <a:cs typeface="Muli"/>
                <a:sym typeface="Muli"/>
              </a:rPr>
              <a:t>		</a:t>
            </a:r>
            <a:r>
              <a:rPr lang="en-US" b="1" dirty="0" smtClean="0">
                <a:solidFill>
                  <a:schemeClr val="lt1"/>
                </a:solidFill>
                <a:latin typeface="Muli"/>
                <a:ea typeface="Muli"/>
                <a:cs typeface="Muli"/>
                <a:sym typeface="Muli"/>
              </a:rPr>
              <a:t>Acknowledgements:</a:t>
            </a:r>
          </a:p>
          <a:p>
            <a:r>
              <a:rPr lang="en-US" b="1" dirty="0" smtClean="0"/>
              <a:t>		</a:t>
            </a:r>
            <a:r>
              <a:rPr lang="en-US" sz="1050" b="1" dirty="0" smtClean="0">
                <a:solidFill>
                  <a:schemeClr val="lt1"/>
                </a:solidFill>
                <a:latin typeface="Muli"/>
                <a:ea typeface="Muli"/>
                <a:cs typeface="Muli"/>
                <a:sym typeface="Muli"/>
              </a:rPr>
              <a:t>Thanks to VIT &amp; SCORE</a:t>
            </a:r>
          </a:p>
          <a:p>
            <a:pPr lvl="3"/>
            <a:endParaRPr lang="en-US" b="1" dirty="0" smtClean="0">
              <a:solidFill>
                <a:schemeClr val="lt1"/>
              </a:solidFill>
              <a:latin typeface="Muli"/>
              <a:ea typeface="Muli"/>
              <a:cs typeface="Muli"/>
              <a:sym typeface="Muli"/>
            </a:endParaRPr>
          </a:p>
          <a:p>
            <a:pPr lvl="3">
              <a:spcBef>
                <a:spcPts val="400"/>
              </a:spcBef>
              <a:spcAft>
                <a:spcPts val="400"/>
              </a:spcAft>
            </a:pPr>
            <a:endParaRPr lang="en-US" dirty="0">
              <a:solidFill>
                <a:schemeClr val="lt1"/>
              </a:solidFill>
              <a:latin typeface="Muli"/>
              <a:ea typeface="Muli"/>
              <a:cs typeface="Muli"/>
              <a:sym typeface="Mul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154</Words>
  <PresentationFormat>On-screen Show (16:9)</PresentationFormat>
  <Paragraphs>43</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Lexend Deca</vt:lpstr>
      <vt:lpstr>Muli</vt:lpstr>
      <vt:lpstr>Wingdings</vt:lpstr>
      <vt:lpstr>Aliena template</vt:lpstr>
      <vt:lpstr>Email Spam or Ham Classifier</vt:lpstr>
      <vt:lpstr>WHAT DOES IT DO?</vt:lpstr>
      <vt:lpstr>Slide 3</vt:lpstr>
      <vt:lpstr>Slide 4</vt:lpstr>
      <vt:lpstr>1. Project Kit</vt:lpstr>
      <vt:lpstr>Slide 6</vt:lpstr>
      <vt:lpstr>Implementation,  and Testing</vt:lpstr>
      <vt:lpstr>Spam Mail Test Case</vt:lpstr>
      <vt:lpstr>Result</vt:lpstr>
      <vt:lpstr>Ham Mail Test Case</vt:lpstr>
      <vt:lpstr>Result</vt:lpstr>
      <vt:lpstr>Conclusion</vt:lpstr>
      <vt:lpstr>Slide 13</vt:lpstr>
      <vt:lpstr>Thanks!</vt:lpstr>
      <vt:lpstr>Team Presentation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Spam or Ham Classifier</dc:title>
  <dc:creator>Lenovo</dc:creator>
  <cp:lastModifiedBy>Lenovo</cp:lastModifiedBy>
  <cp:revision>3</cp:revision>
  <dcterms:modified xsi:type="dcterms:W3CDTF">2024-04-16T14:31:04Z</dcterms:modified>
</cp:coreProperties>
</file>